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Montserrat" pitchFamily="2" charset="77"/>
      <p:regular r:id="rId23"/>
      <p:bold r:id="rId24"/>
      <p:italic r:id="rId25"/>
      <p:boldItalic r:id="rId26"/>
    </p:embeddedFont>
    <p:embeddedFont>
      <p:font typeface="Montserrat Light" panose="020F0302020204030204" pitchFamily="34" charset="0"/>
      <p:regular r:id="rId27"/>
      <p:bold r:id="rId28"/>
      <p:italic r:id="rId29"/>
      <p:bold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PT Sans Narrow" panose="020B0506020203020204" pitchFamily="34" charset="77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 snapToGrid="0">
      <p:cViewPr varScale="1">
        <p:scale>
          <a:sx n="158" d="100"/>
          <a:sy n="158" d="100"/>
        </p:scale>
        <p:origin x="56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483fa7c5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483fa7c5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483fa7c5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483fa7c5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483fa7c5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483fa7c5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Explanatory modeling!! Looking to isolate causal effect of food deserts on diabetes prevalence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483fa7c5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483fa7c5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483fa7c5d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483fa7c5d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data publically available on government websites, all aggregated so no identifying information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483fa7c5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483fa7c5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483fa7c5d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483fa7c5d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483fa7c5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483fa7c5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483fa7c5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483fa7c5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483fa7c5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483fa7c5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483fa7c5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483fa7c5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483fa7c5d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483fa7c5d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0.5% of the variance in diabetes prevalence can be explained by the variance in low food access at 1 and 10 miles, in general for explanatory modeling though we aren’t looking to maximize R-squared, just look at significance and magnitude of the regression coefficient of the variable of interest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483fa7c5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483fa7c5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483fa7c5d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483fa7c5d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483fa7c5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483fa7c5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483fa7c5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483fa7c5d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SNAP % had regression coefficient of 0.196 - meaning that Every 1 percentage point increase in SNAP usage is associated with a 0.196 percentage point increase in diabetes prevalence, holding all else equal. From 0% of the county on SNAP to 100% of the county on SNAP, the total change is expected to be a 19.6 percentage point increase.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483fa7c5d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483fa7c5d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483fa7c5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483fa7c5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483fa7c5d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483fa7c5d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oodispower.org/access-health/food-desert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337/dc17-1981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ers.usda.gov/data-products/food-access-research-atlas/" TargetMode="External"/><Relationship Id="rId5" Type="http://schemas.openxmlformats.org/officeDocument/2006/relationships/hyperlink" Target="https://www.ers.usda.gov/data-products/food-access-research-atlas" TargetMode="External"/><Relationship Id="rId4" Type="http://schemas.openxmlformats.org/officeDocument/2006/relationships/hyperlink" Target="https://doi.org/10.1007/s11606-007-0192-6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 Deserts and Diabetes Prevalence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Using explanatory modeling techniques to explore the relationship between grocery access and diabetes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2268150" y="3549795"/>
            <a:ext cx="4870500" cy="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By: Emily Donofrio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235975" y="13223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Key Question &amp; Literature Review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235975" y="2162263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Data Sources, Variables, Preprocessing, &amp; EDA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235975" y="3002199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Modeling Methods &amp; Results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235975" y="38421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Conclusions &amp; Comments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8" name="Google Shape;78;p14"/>
          <p:cNvSpPr/>
          <p:nvPr/>
        </p:nvSpPr>
        <p:spPr>
          <a:xfrm rot="-5400000">
            <a:off x="-340550" y="1683700"/>
            <a:ext cx="3248925" cy="2523625"/>
          </a:xfrm>
          <a:prstGeom prst="flowChartOffpageConnector">
            <a:avLst/>
          </a:prstGeom>
          <a:solidFill>
            <a:schemeClr val="dk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1235975" y="1322350"/>
            <a:ext cx="7596300" cy="7344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Question &amp; Literature Review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235975" y="2162263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Data Sources, Variables, Preprocessing, &amp; EDA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235975" y="3002199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Modeling Methods &amp; Results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235975" y="38421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Conclusions &amp; Comments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8" name="Google Shape;88;p15"/>
          <p:cNvSpPr/>
          <p:nvPr/>
        </p:nvSpPr>
        <p:spPr>
          <a:xfrm rot="-5400000">
            <a:off x="-340550" y="1683700"/>
            <a:ext cx="3248925" cy="2523625"/>
          </a:xfrm>
          <a:prstGeom prst="flowChartOffpageConnector">
            <a:avLst/>
          </a:prstGeom>
          <a:solidFill>
            <a:schemeClr val="dk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food deserts have an adverse effect on health, as explored by the relationship with diabetes prevalence?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144750" y="4703075"/>
            <a:ext cx="8854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*Source: </a:t>
            </a:r>
            <a:r>
              <a:rPr lang="en" sz="800" u="sng">
                <a:solidFill>
                  <a:srgbClr val="B7B7B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https://foodispower.org/access-health/food-deserts/</a:t>
            </a:r>
            <a:endParaRPr sz="8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61700" y="1233050"/>
            <a:ext cx="8854500" cy="12066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What are food deserts?</a:t>
            </a:r>
            <a:endParaRPr sz="16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“geographic areas where residents’ access to affordable, healthy food options (especially fresh fruits and vegetables) is restricted or nonexistent due to the absence of grocery stores within convenient traveling distance”*</a:t>
            </a:r>
            <a:endParaRPr sz="1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61700" y="2516275"/>
            <a:ext cx="8820600" cy="22182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61700" y="2777200"/>
            <a:ext cx="4475100" cy="17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Seligman et al. (2007)</a:t>
            </a:r>
            <a:endParaRPr sz="10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Key Finding: “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After adjusting for sociodemographic factors and physical activity level, participants with severe food insecurity were more likely to have diabetes than those without food insecurity”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Independent Variable: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Food insecurity categorization groupings using National Health Examination and Nutrition Examination Survey data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Dependent Variable: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Self-reported diabetes diagnosis, excluding Type I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636825" y="2777200"/>
            <a:ext cx="4260300" cy="17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Berkowitz et al. (2018)</a:t>
            </a:r>
            <a:endParaRPr sz="10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Key Finding: “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Food insecurity is associated with higher HbA</a:t>
            </a:r>
            <a:r>
              <a:rPr lang="en" sz="1000" baseline="-25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1c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but living in an area with low physical food access is not”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Independent Variable: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Food insecurity survey, low food access (LA1and10)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Dependent Variable: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HbA</a:t>
            </a:r>
            <a:r>
              <a:rPr lang="en" sz="1000" baseline="-25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1c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from electronic medical records of diabetes patients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3745950" y="2490975"/>
            <a:ext cx="16860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Previous Studies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235975" y="13223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Key Question &amp; Literature Review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1235975" y="2162275"/>
            <a:ext cx="7596300" cy="7344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Sources, Variables, Preprocessing, &amp; EDA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1235975" y="3002199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Modeling Methods &amp; Results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235975" y="38421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Conclusions &amp; Comments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9" name="Google Shape;109;p17"/>
          <p:cNvSpPr/>
          <p:nvPr/>
        </p:nvSpPr>
        <p:spPr>
          <a:xfrm rot="-5400000">
            <a:off x="-340550" y="1683700"/>
            <a:ext cx="3248925" cy="2523625"/>
          </a:xfrm>
          <a:prstGeom prst="flowChartOffpageConnector">
            <a:avLst/>
          </a:prstGeom>
          <a:solidFill>
            <a:schemeClr val="dk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using two datasets sourced from USDA and CDC data from 2019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USDA: Food Access Research Atlas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Granularity: Census tract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72531 rows at census level, 3142 counties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>
                <a:highlight>
                  <a:srgbClr val="FFFFFF"/>
                </a:highlight>
              </a:rPr>
              <a:t>2019 list of supermarkets, the 2010 Decennial Census, and the 2014-18 American Community Survey (ACS)</a:t>
            </a:r>
            <a:endParaRPr sz="1600">
              <a:highlight>
                <a:srgbClr val="FFFFFF"/>
              </a:highlight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>
                <a:highlight>
                  <a:srgbClr val="FFFFFF"/>
                </a:highlight>
              </a:rPr>
              <a:t>Multiple measures of food accessibility, sociodemographic data of census tracts</a:t>
            </a:r>
            <a:endParaRPr sz="1600"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CDC: Diagnosed Diabetes Prevalence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Granularity: County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3120 rows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Rate of diagnosed diabetes prevalence, all types of diabetes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had 2 variables of interest and other potentially confounding variables I chose to help isolate causal effect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11700" y="1728150"/>
            <a:ext cx="8520600" cy="28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Outcome Variable:</a:t>
            </a:r>
            <a:r>
              <a:rPr lang="en" sz="1600"/>
              <a:t> Diabetes Prevalence - rate, 0-1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X Variable of Interest:</a:t>
            </a:r>
            <a:r>
              <a:rPr lang="en" sz="1600"/>
              <a:t> LA1and10 - binary at tract level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highlight>
                  <a:srgbClr val="FFFFFF"/>
                </a:highlight>
              </a:rPr>
              <a:t>A tract with at least 500 people, or 33 percent of the population, living more than 1 mile (urban areas) or 10 miles (rural areas) from the nearest supermarket, supercenter, or large grocery store.</a:t>
            </a:r>
            <a:endParaRPr sz="1600"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>
                <a:highlight>
                  <a:srgbClr val="FFFFFF"/>
                </a:highlight>
              </a:rPr>
              <a:t>Other X variables:</a:t>
            </a:r>
            <a:r>
              <a:rPr lang="en" sz="1600">
                <a:highlight>
                  <a:srgbClr val="FFFFFF"/>
                </a:highlight>
              </a:rPr>
              <a:t> </a:t>
            </a:r>
            <a:r>
              <a:rPr lang="en" sz="1600"/>
              <a:t>'Pop2010', 'Urban', 'PovertyRate', 'MedianFamilyIncome', 'CountyKids_percent', 'CountySeniors_percent',  'CountyWhite_percent',  'CountyBlack_percent',  'CountyAsian_percent',  'CountyHispanic_percent', 'CountySNAP_percent'</a:t>
            </a:r>
            <a:endParaRPr sz="16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were multiple preprocessing steps to create the modeling dataset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Removing unnecessary columns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Aggregating food access to county, state level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Used weighted averages by census tract population for LA1and10, urban, poverty_rate, and median income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Summed population and population subgroups, created percentages of county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Joining diabetes and food access data on county and state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Inner join, as the analysis requires values for both diabetes prevalence and LA1and10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Checked which observations in both datasets did not have matches, cleaned data to pick up more matches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Finding: Diabetes dataset does not have NJ data, meaning there is no New Jersey data in the final dataset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example: Nantucket County, MA</a:t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3825"/>
            <a:ext cx="8839199" cy="2502173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06998"/>
            <a:ext cx="8839203" cy="88212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5" name="Google Shape;135;p21"/>
          <p:cNvSpPr/>
          <p:nvPr/>
        </p:nvSpPr>
        <p:spPr>
          <a:xfrm rot="10800000">
            <a:off x="3333800" y="3469500"/>
            <a:ext cx="2763600" cy="2940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showed a slight negative relationship between LA1and10 and diabetes prevalence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00" y="1230250"/>
            <a:ext cx="2672525" cy="22029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0685" y="1230250"/>
            <a:ext cx="2672515" cy="22029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3750" y="1230250"/>
            <a:ext cx="3450000" cy="359025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" name="Google Shape;144;p22"/>
          <p:cNvSpPr/>
          <p:nvPr/>
        </p:nvSpPr>
        <p:spPr>
          <a:xfrm>
            <a:off x="97600" y="3552250"/>
            <a:ext cx="5405700" cy="12684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EDA Takeaways: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LA1and10 extends full range [0,1], modes at 0 and 1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Diabetes prevalence fairly normal distribution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Very slight negative relationship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between LA1and10 and diabetes prevalence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of the variables seem to have a significant correlation with diabetes prevalence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50" y="1218700"/>
            <a:ext cx="5956807" cy="3686275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1" name="Google Shape;151;p23"/>
          <p:cNvSpPr/>
          <p:nvPr/>
        </p:nvSpPr>
        <p:spPr>
          <a:xfrm>
            <a:off x="5173525" y="1767275"/>
            <a:ext cx="908100" cy="2739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5173525" y="4497425"/>
            <a:ext cx="908100" cy="2739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5173525" y="2888350"/>
            <a:ext cx="908100" cy="2739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6214800" y="1895288"/>
            <a:ext cx="2794800" cy="2333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Takeaways: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LA1and10 </a:t>
            </a:r>
            <a:r>
              <a:rPr lang="en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weak negative correlation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but significant at 0.01 level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Strongest correlations are with </a:t>
            </a:r>
            <a:r>
              <a:rPr lang="en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SNAP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percent, and </a:t>
            </a:r>
            <a:r>
              <a:rPr lang="en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Median Family Income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1235975" y="13223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Key Question &amp; Literature Review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1235975" y="2162263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Data Sources, Variables, Preprocessing, &amp; EDA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1235975" y="3002200"/>
            <a:ext cx="7596300" cy="7344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Modeling Methods &amp; Results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1235975" y="38421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Conclusions &amp; Comments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4" name="Google Shape;164;p24"/>
          <p:cNvSpPr/>
          <p:nvPr/>
        </p:nvSpPr>
        <p:spPr>
          <a:xfrm rot="-5400000">
            <a:off x="-340550" y="1683700"/>
            <a:ext cx="3248925" cy="2523625"/>
          </a:xfrm>
          <a:prstGeom prst="flowChartOffpageConnector">
            <a:avLst/>
          </a:prstGeom>
          <a:solidFill>
            <a:schemeClr val="dk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Model 1: Simple Linear Regression</a:t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950" y="2516601"/>
            <a:ext cx="4344350" cy="2484298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1" name="Google Shape;171;p25"/>
          <p:cNvSpPr/>
          <p:nvPr/>
        </p:nvSpPr>
        <p:spPr>
          <a:xfrm>
            <a:off x="186625" y="906125"/>
            <a:ext cx="8556900" cy="15480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Hypotheses: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H0: R</a:t>
            </a:r>
            <a:r>
              <a:rPr lang="en" sz="1000" baseline="30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= 0, there is no significant shared variance between LA1and10 and diabetes prevalence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H1: R</a:t>
            </a:r>
            <a:r>
              <a:rPr lang="en" sz="1000" baseline="30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lt1"/>
                </a:solidFill>
              </a:rPr>
              <a:t>≠ 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0, there is some significant shared variance between LA1and10 and diabetes prevalence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H0: β</a:t>
            </a:r>
            <a:r>
              <a:rPr lang="en" sz="1000" baseline="-25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LA1aand10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= 0, the regression coefficient of LA1and10 is equal to 0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H1: β</a:t>
            </a:r>
            <a:r>
              <a:rPr lang="en" sz="1000" baseline="-25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LA1aand10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lt1"/>
                </a:solidFill>
              </a:rPr>
              <a:t>≠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0, the regression coefficient of LA1and10 is not equal to 0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186625" y="2516550"/>
            <a:ext cx="4203900" cy="2484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Equation:</a:t>
            </a:r>
            <a:r>
              <a:rPr lang="en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Diabetes Prevalence = 0.1070 +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-0.0045*LA1and10</a:t>
            </a: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P-value of coefficient:</a:t>
            </a:r>
            <a:r>
              <a:rPr lang="en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&lt; 0.001</a:t>
            </a: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Interpretation:</a:t>
            </a:r>
            <a:r>
              <a:rPr lang="en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Every 1 percentage point increase in LA1and10 is associated with a 0.0045 percentage point decrease in diabetes prevalence. From 0 LA1and10 to 1, the total change is expected to be a 0.45 percentage point decrease.</a:t>
            </a: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4487950" y="4155050"/>
            <a:ext cx="4247400" cy="1332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6700150" y="2739625"/>
            <a:ext cx="2119500" cy="1332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Model 2: Adding potential confounding variables</a:t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425" y="1195775"/>
            <a:ext cx="4800176" cy="3499474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1" name="Google Shape;181;p26"/>
          <p:cNvSpPr/>
          <p:nvPr/>
        </p:nvSpPr>
        <p:spPr>
          <a:xfrm>
            <a:off x="186625" y="1195775"/>
            <a:ext cx="3930000" cy="12207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Hypotheses: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H0: β</a:t>
            </a:r>
            <a:r>
              <a:rPr lang="en" sz="1000" baseline="-25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LA1aand10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= 0, the regression coefficient of LA1and10 is equal to 0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H1: β</a:t>
            </a:r>
            <a:r>
              <a:rPr lang="en" sz="1000" baseline="-25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LA1aand10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lt1"/>
                </a:solidFill>
              </a:rPr>
              <a:t>≠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0, the regression coefficient of LA1and10 is not equal to 0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168925" y="2482625"/>
            <a:ext cx="3965400" cy="2212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Coefficient of LA1and10: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-0.0024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P-value of coefficient: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0.024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Interpretation: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Every 1 percentage point increase in LA1and10 is associated with a 0.0024 percentage point decrease in diabetes prevalence, holding all else equal. From 0 LA1and10 to 1, the total change is expected to be a 0.24 percentage point decrease.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4191850" y="2785000"/>
            <a:ext cx="4800300" cy="1095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Assumptions: Multicollinearity</a:t>
            </a:r>
            <a:endParaRPr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225" y="1309250"/>
            <a:ext cx="5169951" cy="3216851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27"/>
          <p:cNvSpPr/>
          <p:nvPr/>
        </p:nvSpPr>
        <p:spPr>
          <a:xfrm>
            <a:off x="4844725" y="1563750"/>
            <a:ext cx="3648300" cy="4383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137600" y="1309325"/>
            <a:ext cx="3133500" cy="32169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None of the features have a VIF &gt; than 5 or a tolerance &lt; 0.2, so </a:t>
            </a:r>
            <a:r>
              <a:rPr lang="en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multicollinearity does not appear to be a major concern</a:t>
            </a:r>
            <a:endParaRPr sz="12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048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variable of interest, LA1and10 has a VIF of 1.22 and a tolerance of 0.8183 meaning that </a:t>
            </a:r>
            <a:r>
              <a:rPr lang="en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81% of its variance is independent of the other variables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97" name="Google Shape;197;p28"/>
          <p:cNvSpPr/>
          <p:nvPr/>
        </p:nvSpPr>
        <p:spPr>
          <a:xfrm>
            <a:off x="1235975" y="1322338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Key Question &amp; Literature Review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1235975" y="2162263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Data Sources, Variables, Preprocessing, &amp; EDA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1235975" y="3002199"/>
            <a:ext cx="6421800" cy="734400"/>
          </a:xfrm>
          <a:prstGeom prst="homePlate">
            <a:avLst>
              <a:gd name="adj" fmla="val 50000"/>
            </a:avLst>
          </a:prstGeom>
          <a:solidFill>
            <a:srgbClr val="EEEEEE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Modeling Methods &amp; Results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1235975" y="3842150"/>
            <a:ext cx="7596300" cy="7344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Conclusions &amp; Future Considerations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8"/>
          <p:cNvSpPr/>
          <p:nvPr/>
        </p:nvSpPr>
        <p:spPr>
          <a:xfrm rot="-5400000">
            <a:off x="-340550" y="1683700"/>
            <a:ext cx="3248925" cy="2523625"/>
          </a:xfrm>
          <a:prstGeom prst="flowChartOffpageConnector">
            <a:avLst/>
          </a:prstGeom>
          <a:solidFill>
            <a:schemeClr val="dk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physical food access itself does not have a positive causal effect on diabetes prevalence</a:t>
            </a:r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822800" cy="3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From analysis, we see that </a:t>
            </a:r>
            <a:r>
              <a:rPr lang="en" sz="1600" b="1"/>
              <a:t>low food access has a slight negative if any effect on diabetes prevalence</a:t>
            </a:r>
            <a:endParaRPr sz="1600" b="1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</a:t>
            </a:r>
            <a:r>
              <a:rPr lang="en" sz="1600" b="1"/>
              <a:t>aligns with the findings of previous literature</a:t>
            </a:r>
            <a:r>
              <a:rPr lang="en" sz="1600"/>
              <a:t>:</a:t>
            </a:r>
            <a:endParaRPr sz="1600"/>
          </a:p>
          <a:p>
            <a:pPr marL="914400" lvl="1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Berkowitz et al - low food access itself does not have a direct effect on diabetes, but food insecurity whole does</a:t>
            </a:r>
            <a:endParaRPr sz="1600"/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we use SNAP as an indicator for food insecurity, then we see that it has a much stronger and positive relationship with diabetes prevalence.</a:t>
            </a:r>
            <a:endParaRPr sz="1600"/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2150" y="1327600"/>
            <a:ext cx="3209175" cy="3353251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considerations</a:t>
            </a:r>
            <a:endParaRPr/>
          </a:p>
        </p:txBody>
      </p:sp>
      <p:sp>
        <p:nvSpPr>
          <p:cNvPr id="214" name="Google Shape;214;p3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22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Alternative aggregation methods (eg: keeping LA1and10 binary)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 analysis with alternative food desert indicators (eg: LA1and20)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census tract or individual granularity to increase accuracy, detail, and potential variables to include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Investigating the effects of food deserts on other health outcomes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Berkowitz, S. A., Karter, A. J., Corbie-Smith, G., Seligman, H. K., Ackroyd, S. A., Barnard, L. S., Atlas, S. J., &amp; Wexler, D. J. (2018). Food insecurity, food “deserts,” and glycemic control in patients with diabetes: A longitudinal analysis. </a:t>
            </a:r>
            <a:r>
              <a:rPr lang="en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Diabetes Care, 41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(6), 1188–1195. </a:t>
            </a:r>
            <a:r>
              <a:rPr lang="en" sz="1200">
                <a:solidFill>
                  <a:srgbClr val="0F5DB9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https://doi.org/10.2337/dc17-1981</a:t>
            </a:r>
            <a:endParaRPr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Health Information Hub. (n.d.). </a:t>
            </a:r>
            <a:r>
              <a:rPr lang="en" sz="1200" i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data explorer</a:t>
            </a:r>
            <a:r>
              <a:rPr lang="en" sz="12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March 12, 2025, from </a:t>
            </a:r>
            <a:r>
              <a:rPr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https://www.ruralhealthinfo.org/data-explorer?id=192</a:t>
            </a:r>
            <a:endParaRPr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Seligman, H.K., Bindman, A.B., Vittinghoff, E. </a:t>
            </a:r>
            <a:r>
              <a:rPr lang="en" sz="12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Food Insecurity is Associated with Diabetes Mellitus: Results from the National Health Examination and Nutrition Examination Survey (NHANES) 1999–2002. </a:t>
            </a:r>
            <a:r>
              <a:rPr lang="en" sz="120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GEN INTERN MED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1018–1023 (2007). </a:t>
            </a:r>
            <a:r>
              <a:rPr lang="en" sz="1200" u="sng">
                <a:solidFill>
                  <a:srgbClr val="1155C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https://doi.org/10.1007/s11606-007-0192-6</a:t>
            </a:r>
            <a:endParaRPr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1B1B1B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Economic Research Service (ERS), U.S. Department of Agriculture (USDA). </a:t>
            </a:r>
            <a:r>
              <a:rPr lang="en" sz="1250" u="sng">
                <a:solidFill>
                  <a:srgbClr val="54278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Food Access Research Atlas</a:t>
            </a:r>
            <a:r>
              <a:rPr lang="en" sz="1250">
                <a:solidFill>
                  <a:srgbClr val="1B1B1B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25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https://www.ers.usda.gov/data-products/food-access-research-atlas/</a:t>
            </a:r>
            <a:endParaRPr sz="1250">
              <a:solidFill>
                <a:srgbClr val="1B1B1B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50">
              <a:solidFill>
                <a:srgbClr val="1B1B1B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Thank you! Questions?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1523</Words>
  <Application>Microsoft Macintosh PowerPoint</Application>
  <PresentationFormat>On-screen Show (16:9)</PresentationFormat>
  <Paragraphs>115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Open Sans</vt:lpstr>
      <vt:lpstr>Times New Roman</vt:lpstr>
      <vt:lpstr>PT Sans Narrow</vt:lpstr>
      <vt:lpstr>Montserrat Light</vt:lpstr>
      <vt:lpstr>Montserrat</vt:lpstr>
      <vt:lpstr>Tropic</vt:lpstr>
      <vt:lpstr>Food Deserts and Diabetes Prevalence</vt:lpstr>
      <vt:lpstr>Agenda</vt:lpstr>
      <vt:lpstr>Agenda</vt:lpstr>
      <vt:lpstr>Do food deserts have an adverse effect on health, as explored by the relationship with diabetes prevalence?</vt:lpstr>
      <vt:lpstr>Agenda</vt:lpstr>
      <vt:lpstr>I am using two datasets sourced from USDA and CDC data from 2019</vt:lpstr>
      <vt:lpstr>I had 2 variables of interest and other potentially confounding variables I chose to help isolate causal effect</vt:lpstr>
      <vt:lpstr>There were multiple preprocessing steps to create the modeling dataset</vt:lpstr>
      <vt:lpstr>Aggregation example: Nantucket County, MA</vt:lpstr>
      <vt:lpstr>EDA showed a slight negative relationship between LA1and10 and diabetes prevalence</vt:lpstr>
      <vt:lpstr>All of the variables seem to have a significant correlation with diabetes prevalence</vt:lpstr>
      <vt:lpstr>Agenda</vt:lpstr>
      <vt:lpstr>OLS Model 1: Simple Linear Regression</vt:lpstr>
      <vt:lpstr>OLS Model 2: Adding potential confounding variables</vt:lpstr>
      <vt:lpstr>Checking Assumptions: Multicollinearity</vt:lpstr>
      <vt:lpstr>Agenda</vt:lpstr>
      <vt:lpstr>Low physical food access itself does not have a positive causal effect on diabetes prevalence</vt:lpstr>
      <vt:lpstr>Future considerations</vt:lpstr>
      <vt:lpstr>References: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Emily Donofrio</cp:lastModifiedBy>
  <cp:revision>2</cp:revision>
  <dcterms:modified xsi:type="dcterms:W3CDTF">2025-03-25T01:37:24Z</dcterms:modified>
</cp:coreProperties>
</file>